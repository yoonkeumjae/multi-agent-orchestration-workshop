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학교에 8명의 AI 동료가 출근한다면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직업계고 현장에서 멀티에이전트 활용하기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30분 · 데모 4건 · 도입 로드맵 포함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 한 분이 한 학기에 작성하는 문서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직업계고 담임·전공 교사 기준 평균치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22000" dirty="0"/>
          </a:p>
        </p:txBody>
      </p:sp>
      <p:sp>
        <p:nvSpPr>
          <p:cNvPr id="7" name="Text 5"/>
          <p:cNvSpPr/>
          <p:nvPr/>
        </p:nvSpPr>
        <p:spPr>
          <a:xfrm>
            <a:off x="4114800" y="2377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한 학기에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0" y="15544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 기반 실습 수업안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680" y="15544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점검 체크리스트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21945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현장실습 표준협약·일지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9680" y="21945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수행평가 루브릭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28346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행동특성 및 종합의견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0" y="28346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 추천서·자기소개서 코칭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34747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 상담 기록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69680" y="34747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 안내·민원 응대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기능경기·자격증 지도 자료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➤ 이 모든 것을 “한 명의 슈퍼맨 교사”가 다 해내고 있습니다.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 “그냥 한 번 묻기”, 왜 부족한가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 한 번 호출 = 책임소재 없는 1인 답변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 부족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질문에 매번 다른 답.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반·학년·학교 간 표준화 어려움.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1463040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4944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안전·법규 검토 누락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2331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현장실습 표준협약·산업안전·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보호 시각이 비어 있음.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42519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 매핑 미흡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" y="489204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능력단위·수행준거와 자동 연결되지 않음.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단계 없이 그대로 사용 위험.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0" y="4023360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4251960"/>
            <a:ext cx="502920" cy="502920"/>
          </a:xfrm>
          <a:prstGeom prst="ellips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9440" y="42519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책임소재 불명확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09360" y="489204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출처·근거 트랙이 한 줄.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 감사·이의 제기 시 추적 불가.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슈퍼맨 AI ❌  →  AI 교무실 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명에게 다 시키지 말고, 역할이 나뉜 팀을 두자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7E8E0"/>
          </a:solidFill>
          <a:ln w="12700">
            <a:solidFill>
              <a:srgbClr val="C97A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3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슈퍼맨 AI 한 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챗봇이 모든 걸 받아 처리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검토·승인 단계 없음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출처·책임 추적 불가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의존도가 너무 높음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1인 = 위험·노동의 1인 부담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E3F1F1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(역할 분담된 팀)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23774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능력단위처럼 역할이 쪼개진 AI 동료들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검토·종합 → 자연스러운 감사선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출처가 트랙별로 분리 → 사후 추적 가능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프롬프트·데이터셋을 시도 단위로 표준화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교사는 “감독·결정”에 집중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교무실에 부장교사·담임·전공교사·산학협력부장이 따로 있는 이유 — AI도 똑같습니다.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만나 볼 4명의 AI 교무실 동료들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패턴 = 학교 일과의 익숙한 장면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28900" cy="438912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2628900" cy="548640"/>
          </a:xfrm>
          <a:prstGeom prst="rect">
            <a:avLst/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Sequential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 라인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3657600"/>
            <a:ext cx="171450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31920"/>
            <a:ext cx="22631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 실습 수업·평가 자료 제작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60420" y="1463040"/>
            <a:ext cx="2628900" cy="438912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60420" y="1463040"/>
            <a:ext cx="2628900" cy="548640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0420" y="146304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Concurrent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43300" y="23774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학년부 회의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43300" y="31089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17620" y="3657600"/>
            <a:ext cx="171450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3300" y="3931920"/>
            <a:ext cx="22631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행동특성 및 종합의견 작성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1463040"/>
            <a:ext cx="2628900" cy="438912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463040"/>
            <a:ext cx="2628900" cy="548640"/>
          </a:xfrm>
          <a:prstGeom prst="rect">
            <a:avLst/>
          </a:prstGeom>
          <a:solidFill>
            <a:srgbClr val="7BA7BC"/>
          </a:solidFill>
          <a:ln w="12700">
            <a:solidFill>
              <a:srgbClr val="7BA7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46304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Handoff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23774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민원 전화 응대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355080" y="31089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3657600"/>
            <a:ext cx="171450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931920"/>
            <a:ext cx="22631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학생·학부모 통합 안내 챗봇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983980" y="1463040"/>
            <a:ext cx="2628900" cy="438912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983980" y="1463040"/>
            <a:ext cx="2628900" cy="548640"/>
          </a:xfrm>
          <a:prstGeom prst="rect">
            <a:avLst/>
          </a:prstGeom>
          <a:solidFill>
            <a:srgbClr val="C97A5A"/>
          </a:solidFill>
          <a:ln w="12700">
            <a:solidFill>
              <a:srgbClr val="C97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83980" y="146304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Chat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66860" y="23774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 협의회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166860" y="31089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441180" y="3657600"/>
            <a:ext cx="171450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66860" y="3931920"/>
            <a:ext cx="22631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 후 진로 결정 시뮬레이션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① Sequential — “결재 라인처럼”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 실습 수업·평가 자료 제작 파이프라인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4EEE3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특성화고 바이오공정과 1학년 첫 학기, 첫 실습 “무균 조작과 미생물 배양 기초” 100분 블록.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신임 전공 교사가 NCS 능력단위·SOP·안전 수칙·평가 루브릭을 한꺼번에 만들어야 합니다.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분업 흐름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ncs-mapping-agent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 능력단위 매핑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수행준거 도출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131820" y="4005072"/>
            <a:ext cx="274320" cy="219456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186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8902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lesson-plan-agent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8902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차시 설계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100분 블록 흐름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943600" y="4005072"/>
            <a:ext cx="274320" cy="219456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sop-author-agent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SOP · 체크리스트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수칙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755380" y="4005072"/>
            <a:ext cx="274320" cy="219456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7542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1258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rubric-reviewer-agent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1258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수행평가 루브릭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안전·자료 검토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처음부터 끝까지 쓰던 4단계를, AI 4명이 결재 라인처럼 차례대로 검토합니다.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① 결과 — 신임 교사의 첫 실습 설계가 30분 만에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Sequential 패턴 — 직업계고 NCS 기반 실습 자료 제작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1.5h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수업안 + 루브릭 + 안전점검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1~2일 분량의 첫 실습 설계를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단계까지 단축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 “화학·바이오 &gt; 바이오공정 &gt; 미생물 배양·관리” 능력단위 매핑표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클린벤치 사용·배지 제조·도말 안전 수칙 SOP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자기점검 체크리스트 (2인 1조)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산출물(접종 페트리디시 + 24h 콜로니 관찰) 채점 루브릭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교무실에 던지는 한 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640" y="4526280"/>
            <a:ext cx="6400800" cy="1645920"/>
          </a:xfrm>
          <a:prstGeom prst="roundRect">
            <a:avLst>
              <a:gd name="adj" fmla="val 6667"/>
            </a:avLst>
          </a:prstGeom>
          <a:solidFill>
            <a:srgbClr val="F4EEE3"/>
          </a:solidFill>
          <a:ln w="12700">
            <a:solidFill>
              <a:srgbClr val="E9A2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46634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“신규 전공 교사가 가장 두려워하는 첫 실습 설계” 부담을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교사가 검토자·확정자 역할로 옮겨 줍니다.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② Concurrent — “학년부 회의처럼”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행동특성 및 종합의견 / 산업체 추천 자료 동시 검토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F4EEE3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2학기 말, 담임이 학급 24명의 행종을 작성해야 합니다.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전문교과·NCS / 출결·현장실습 출근 / 자격증·기능경기·창체 / 현장실습 평가·독서 — 4개 자료를 매번 따로 확인해야 합니다.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944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subject-skill-agent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전문교과 · NCS 역량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3886200"/>
            <a:ext cx="0" cy="548640"/>
          </a:xfrm>
          <a:prstGeom prst="line">
            <a:avLst/>
          </a:prstGeom>
          <a:noFill/>
          <a:ln w="38100">
            <a:solidFill>
              <a:srgbClr val="E9A2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1947672" y="4343400"/>
            <a:ext cx="219456" cy="182880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6432" y="28346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47872" y="2944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attendance-agent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47872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출결 · 현장실습 출근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90872" y="3886200"/>
            <a:ext cx="0" cy="548640"/>
          </a:xfrm>
          <a:prstGeom prst="line">
            <a:avLst/>
          </a:prstGeom>
          <a:noFill/>
          <a:ln w="38100">
            <a:solidFill>
              <a:srgbClr val="E9A2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4581144" y="4343400"/>
            <a:ext cx="219456" cy="182880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9904" y="28346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81344" y="2944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certification-activity-agent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81344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자격증 · 기능경기 · 창체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24344" y="3886200"/>
            <a:ext cx="0" cy="548640"/>
          </a:xfrm>
          <a:prstGeom prst="line">
            <a:avLst/>
          </a:prstGeom>
          <a:noFill/>
          <a:ln w="38100">
            <a:solidFill>
              <a:srgbClr val="E9A2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7214616" y="4343400"/>
            <a:ext cx="219456" cy="182880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23376" y="28346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814816" y="2944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field-training-eval-agent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14816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현장실습 평가 · 독서활동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957816" y="3886200"/>
            <a:ext cx="0" cy="548640"/>
          </a:xfrm>
          <a:prstGeom prst="line">
            <a:avLst/>
          </a:prstGeom>
          <a:noFill/>
          <a:ln w="38100">
            <a:solidFill>
              <a:srgbClr val="E9A2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9848088" y="4343400"/>
            <a:ext cx="219456" cy="182880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4709160"/>
            <a:ext cx="4846320" cy="914400"/>
          </a:xfrm>
          <a:prstGeom prst="roundRect">
            <a:avLst>
              <a:gd name="adj" fmla="val 10000"/>
            </a:avLst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student-report-agent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0" y="5166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트랙 종합 → 행종 또는 취업 추천 자료 초안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병렬로 4개 자료 트랙을 동시 점검 → 종합 에이전트가 한 문단으로 묶어 줍니다.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② 결과 — 학년부 회의가 24/7 돌아간다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Concurrent 패턴 — 행종·취업 추천 자료 종합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×4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병렬 자료 트랙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 1인이 직렬로 보던 자료를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AI 동료가 동시에 점검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1명당 500자 행종 초안 (편입·취업 양립 표현 가능)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출처가 4축으로 분리 → 사후 검증·이의 제기 추적 가능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말 야근이 “감독·확정” 시간으로 전환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산업체 제출용 자기PR + 담임 추천 분리 작성 옵션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교무실에 던지는 한 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640" y="4526280"/>
            <a:ext cx="6400800" cy="1645920"/>
          </a:xfrm>
          <a:prstGeom prst="roundRect">
            <a:avLst>
              <a:gd name="adj" fmla="val 6667"/>
            </a:avLst>
          </a:prstGeom>
          <a:solidFill>
            <a:srgbClr val="F4EEE3"/>
          </a:solidFill>
          <a:ln w="12700">
            <a:solidFill>
              <a:srgbClr val="E9A2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46634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담임의 야근이 아니라, 4개 자료 트랙을 동시에 돌리는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학년부 회의가 24시간 켜져 있는 상태가 됩니다.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③ Handoff — “민원 전화 응대처럼”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학생·학부모 통합 안내 챗봇 — 자동 라우팅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F4EEE3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“자격증 시험 출석인정”, “현장실습 부당 야근”, “선취업 후 재직자 특별전형” — 서로 다른 질문이 한 번호로 옵니다.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퇴근·주말에도 부모님 전화가 오지만, 모든 담당자가 24시간 대기할 수는 없습니다.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28346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triage-agent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분류 · 라우팅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academic-support-agent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· 행정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출석인정 · 기숙사 · NCS 수업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657600"/>
            <a:ext cx="-3703320" cy="914400"/>
          </a:xfrm>
          <a:prstGeom prst="line">
            <a:avLst/>
          </a:prstGeom>
          <a:noFill/>
          <a:ln w="25400">
            <a:solidFill>
              <a:srgbClr val="E9A2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45720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C97A5A"/>
          </a:solidFill>
          <a:ln w="12700">
            <a:solidFill>
              <a:srgbClr val="C97A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628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field-training-safety-agent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현장실습 안전 · 권익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부당 노동 · 표준협약 위반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657600"/>
            <a:ext cx="-45720" cy="914400"/>
          </a:xfrm>
          <a:prstGeom prst="line">
            <a:avLst/>
          </a:prstGeom>
          <a:noFill/>
          <a:ln w="25400">
            <a:solidFill>
              <a:srgbClr val="E9A2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45720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7BA7BC"/>
          </a:solidFill>
          <a:ln w="12700">
            <a:solidFill>
              <a:srgbClr val="7BA7B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8388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career-pathway-agent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 · 진학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협약기업 · 재직자 전형 · 일학습병행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657600"/>
            <a:ext cx="3611880" cy="914400"/>
          </a:xfrm>
          <a:prstGeom prst="line">
            <a:avLst/>
          </a:prstGeom>
          <a:noFill/>
          <a:ln w="25400">
            <a:solidFill>
              <a:srgbClr val="E9A2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들어오는 모든 질문을 트리아지가 1차 분류 → 적합한 전문 에이전트에게 자동 위임.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③ 결과 — 24/7 1차 안내 + 위험 사안 즉시 격리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Handoff 패턴 — 학생·학부모 통합 안내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24/7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안내 가능 시간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퇴근·주말·방학에도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응대 + 위험 사안 알림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출석인정·기숙사·NCS 수업 같은 일반 질문은 자동 응대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현장실습 부당 노동·안전 사안은 별도 트랙으로 즉시 격리·알림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취업·진학(재직자 전형, 일학습병행, 산업기능요원) 통합 안내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교사·교감은 “격리된 사안”만 직접 확인하면 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교무실에 던지는 한 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640" y="4526280"/>
            <a:ext cx="6400800" cy="1645920"/>
          </a:xfrm>
          <a:prstGeom prst="roundRect">
            <a:avLst>
              <a:gd name="adj" fmla="val 6667"/>
            </a:avLst>
          </a:prstGeom>
          <a:solidFill>
            <a:srgbClr val="F4EEE3"/>
          </a:solidFill>
          <a:ln w="12700">
            <a:solidFill>
              <a:srgbClr val="E9A2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46634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직업계고 공통 민원 패턴을 시도 교육청 단위로 표준화할 수 있는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명확한 후보 — 장학사가 가장 먼저 봐야 할 패턴입니다.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④ Group Chat — “진로 협의회처럼”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 후 진로 결정 시뮬레이션 — 네 명의 시각이 동시에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4EEE3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바이오공정과 3학년, 협약 식품·바이오 기업 채용 vs 식품공학과·생명공학과 진학 사이.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본인·가정·학교의 의견이 엇갈리고, 협약 기업·재직자 전형·일학습병행을 어떤 비율로 묶을지 결정이 어렵습니다.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분업 흐름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homeroom-teacher-agent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담임교사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성향·전반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5186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7BA7BC"/>
          </a:solidFill>
          <a:ln w="12700">
            <a:solidFill>
              <a:srgbClr val="7BA7B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8902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major-instructor-agent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8902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 실습 교사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역량·자격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industry-partnership-agent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산학협력 부장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 기업·일학습병행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542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C97A5A"/>
          </a:solidFill>
          <a:ln w="12700">
            <a:solidFill>
              <a:srgbClr val="C97A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1258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parent-agent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1258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 재정·우려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4명이 회의 형태로 토론·합의 → “취업 60% + 1~3년 후 재직자 전형 진학 40%”처럼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비율과 분기 시점이 명시된 합의안이 나옵니다.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④ 결과 — 진로 협의회를 미리 한 번 돌려 보고 가기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Chat 패턴 — 졸업 후 진로 결정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in 1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 동시 시뮬레이션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 · 전공교사 · 산학협력 · 학부모를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자리에 앉히는 효과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취업·진학·일학습병행·재직자 전형을 비율로 묶은 합의안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1~2년 내 분기 시점(예: “2년 후 재직자 전형 출원 시점”) 명시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본인·가정·학교의 우려가 표로 정리된 회의 요약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협의회 전에 사전 시뮬레이션 가능 → 회의 시간 단축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교무실에 던지는 한 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640" y="4526280"/>
            <a:ext cx="6400800" cy="1645920"/>
          </a:xfrm>
          <a:prstGeom prst="roundRect">
            <a:avLst>
              <a:gd name="adj" fmla="val 6667"/>
            </a:avLst>
          </a:prstGeom>
          <a:solidFill>
            <a:srgbClr val="F4EEE3"/>
          </a:solidFill>
          <a:ln w="12700">
            <a:solidFill>
              <a:srgbClr val="E9A2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46634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협의회 전에 시나리오를 미리 돌려 보고 들어갈 수 있습니다.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학부모와의 갈등도 “감정” 대신 “비율과 시점”으로 대화하게 됩니다.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“학교 차원의 AI 교무실”이 더 안전한가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ChatGPT 사용 vs 분업된 AI 팀 — 거버넌스 관점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88136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06040" y="14630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챗봇 사용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0" y="14630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(분업)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10881360" cy="777240"/>
          </a:xfrm>
          <a:prstGeom prst="rect">
            <a:avLst/>
          </a:prstGeom>
          <a:solidFill>
            <a:srgbClr val="F4EEE3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40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2402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교사마다 다른 프롬프트 · 다른 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22402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 표준 지시문 · 일관된 산출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17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단계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30175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없음. 결과를 그대로 사용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30175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검토 · 종합 = 자연스러운 감사선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10881360" cy="777240"/>
          </a:xfrm>
          <a:prstGeom prst="rect">
            <a:avLst/>
          </a:prstGeom>
          <a:solidFill>
            <a:srgbClr val="F4EEE3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94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추적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06040" y="3794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응답. 어디서 나왔는지 알기 어려움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3794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트랙별 출처 분리 · 사후 추적 가능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72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06040" y="45720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챗봇에 학생 정보 입력 위험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45720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학교용 게이트웨이 통해서만 호출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solidFill>
            <a:srgbClr val="F4EEE3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49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06040" y="5349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개인 노하우에 의존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5349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 단위 표준 프롬프트·데이터셋으로 확산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➤ 분업 = 자연스러운 감사선. 거버넌스를 “덧붙이는 비용”이 아니라 “설계의 부산물”로 얻습니다.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학교가 오늘부터 시작하는 3단계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학기 안에 실현 가능한 로드맵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444240" cy="411480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37360"/>
            <a:ext cx="344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1188720" y="3429000"/>
            <a:ext cx="2346960" cy="0"/>
          </a:xfrm>
          <a:prstGeom prst="line">
            <a:avLst/>
          </a:prstGeom>
          <a:noFill/>
          <a:ln w="25400">
            <a:solidFill>
              <a:srgbClr val="E9A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6616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반복되는 문서 1종 선정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행종 · 실습 수업안 · 표준협약 안내문 중 하나. 학교마다 가장 시간 잡아먹는 항목을 정합니다.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16636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8640" y="1554480"/>
            <a:ext cx="3444240" cy="411480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58640" y="1737360"/>
            <a:ext cx="344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0" dirty="0"/>
          </a:p>
        </p:txBody>
      </p:sp>
      <p:sp>
        <p:nvSpPr>
          <p:cNvPr id="14" name="Shape 12"/>
          <p:cNvSpPr/>
          <p:nvPr/>
        </p:nvSpPr>
        <p:spPr>
          <a:xfrm>
            <a:off x="4907280" y="3429000"/>
            <a:ext cx="2346960" cy="0"/>
          </a:xfrm>
          <a:prstGeom prst="line">
            <a:avLst/>
          </a:prstGeom>
          <a:noFill/>
          <a:ln w="25400">
            <a:solidFill>
              <a:srgbClr val="E9A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2960" y="356616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2~3명 규모의 AI 팀으로 분업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32960" y="44348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Sequential 또는 Concurrent 패턴부터. 교사 1~2명이 “감독·확정” 역할로 시범 운영합니다.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32960" y="516636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77200" y="1554480"/>
            <a:ext cx="3444240" cy="411480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77200" y="1737360"/>
            <a:ext cx="344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0" dirty="0"/>
          </a:p>
        </p:txBody>
      </p:sp>
      <p:sp>
        <p:nvSpPr>
          <p:cNvPr id="20" name="Shape 18"/>
          <p:cNvSpPr/>
          <p:nvPr/>
        </p:nvSpPr>
        <p:spPr>
          <a:xfrm>
            <a:off x="8625840" y="3429000"/>
            <a:ext cx="2346960" cy="0"/>
          </a:xfrm>
          <a:prstGeom prst="line">
            <a:avLst/>
          </a:prstGeom>
          <a:noFill/>
          <a:ln w="25400">
            <a:solidFill>
              <a:srgbClr val="E9A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1520" y="356616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 단위 표준 프롬프트로 확산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51520" y="44348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 매핑 데이터셋·공동 프롬프트 라이브러리·학생정보 보호 게이트웨이를 시도 교육청 단위로 표준화.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51520" y="516636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시작 → 빠르게 검증 → 시도 단위로 확산.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 교육청 · 관리자에게 — 정책 시사점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단위 “AI 교무실”이 모이면 시도 단위 표준이 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373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표준 NCS 매핑 데이터셋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전공별 능력단위·수행준거를 시도 단위로 한 번만 정리하면, 모든 학교의 ncs-mapping-agent가 같은 기준으로 동작합니다.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7373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공동 프롬프트 라이브러리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331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행종·표준협약·진로 시뮬레이션 등 패턴별 표준 지시문을 시도 자산으로 관리. 학교는 미세 조정만.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160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학생정보 보호 게이트웨이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개인이 외부 챗봇에 학생 정보를 입력하지 않도록, “학교용 AI 게이트웨이”를 통해서만 호출.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97764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4160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모범 사례 공유 채널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475488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4종 × 전공 × 학년의 작동 사례를 시도 단위 모범 사례로 축적·공유.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직업계고 멀티에이전트 활용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학교에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번째로 출근시킬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동료는 누구입니까?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워크샵 자료 · 코드: aka.ms/agentframework/workshop/multiagent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교무실 — 직업계고 멀티에이전트 활용</dc:title>
  <dc:subject>PptxGenJS Presentation</dc:subject>
  <dc:creator>Justin Yoo</dc:creator>
  <cp:lastModifiedBy>Justin Yoo</cp:lastModifiedBy>
  <cp:revision>1</cp:revision>
  <dcterms:created xsi:type="dcterms:W3CDTF">2026-05-21T14:02:47Z</dcterms:created>
  <dcterms:modified xsi:type="dcterms:W3CDTF">2026-05-21T14:02:47Z</dcterms:modified>
</cp:coreProperties>
</file>